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5"/>
  </p:notesMasterIdLst>
  <p:handoutMasterIdLst>
    <p:handoutMasterId r:id="rId26"/>
  </p:handoutMasterIdLst>
  <p:sldIdLst>
    <p:sldId id="334" r:id="rId5"/>
    <p:sldId id="353" r:id="rId6"/>
    <p:sldId id="370" r:id="rId7"/>
    <p:sldId id="350" r:id="rId8"/>
    <p:sldId id="342" r:id="rId9"/>
    <p:sldId id="356" r:id="rId10"/>
    <p:sldId id="360" r:id="rId11"/>
    <p:sldId id="377" r:id="rId12"/>
    <p:sldId id="386" r:id="rId13"/>
    <p:sldId id="374" r:id="rId14"/>
    <p:sldId id="375" r:id="rId15"/>
    <p:sldId id="376" r:id="rId16"/>
    <p:sldId id="379" r:id="rId17"/>
    <p:sldId id="378" r:id="rId18"/>
    <p:sldId id="384" r:id="rId19"/>
    <p:sldId id="389" r:id="rId20"/>
    <p:sldId id="390" r:id="rId21"/>
    <p:sldId id="391" r:id="rId22"/>
    <p:sldId id="392" r:id="rId23"/>
    <p:sldId id="3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15E1DB-1FAD-4177-B103-957D6E89B218}" v="96" dt="2024-10-12T18:31:10.181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4967" autoAdjust="0"/>
  </p:normalViewPr>
  <p:slideViewPr>
    <p:cSldViewPr snapToGrid="0">
      <p:cViewPr varScale="1">
        <p:scale>
          <a:sx n="88" d="100"/>
          <a:sy n="88" d="100"/>
        </p:scale>
        <p:origin x="120" y="112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100" b="0" i="0" u="none" strike="noStrike" kern="1200" spc="0" baseline="0" dirty="0">
                <a:solidFill>
                  <a:schemeClr val="bg1"/>
                </a:solidFill>
              </a:rPr>
              <a:t>Count of UFOS Per Year</a:t>
            </a:r>
            <a:endParaRPr lang="en-US" dirty="0">
              <a:solidFill>
                <a:schemeClr val="bg1"/>
              </a:solidFill>
            </a:endParaRPr>
          </a:p>
        </c:rich>
      </c:tx>
      <c:layout>
        <c:manualLayout>
          <c:xMode val="edge"/>
          <c:yMode val="edge"/>
          <c:x val="0.41773719408799836"/>
          <c:y val="3.08641975308641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969964503368815E-2"/>
          <c:y val="0.10506197142023915"/>
          <c:w val="0.93015873519350578"/>
          <c:h val="0.719315641100418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2"/>
            <c:marker>
              <c:symbol val="none"/>
            </c:marker>
            <c:bubble3D val="0"/>
            <c:spPr>
              <a:ln w="4762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2FC-4748-AE0A-9A8BC9EE2254}"/>
              </c:ext>
            </c:extLst>
          </c:dPt>
          <c:dLbls>
            <c:dLbl>
              <c:idx val="0"/>
              <c:layout>
                <c:manualLayout>
                  <c:x val="-1.0070809886403048E-2"/>
                  <c:y val="-5.864197530864203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FC-4748-AE0A-9A8BC9EE2254}"/>
                </c:ext>
              </c:extLst>
            </c:dLbl>
            <c:dLbl>
              <c:idx val="1"/>
              <c:layout>
                <c:manualLayout>
                  <c:x val="-3.7765537074011431E-3"/>
                  <c:y val="6.790123456790117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2FC-4748-AE0A-9A8BC9EE2254}"/>
                </c:ext>
              </c:extLst>
            </c:dLbl>
            <c:dLbl>
              <c:idx val="2"/>
              <c:layout>
                <c:manualLayout>
                  <c:x val="2.517702471600762E-3"/>
                  <c:y val="8.641975308641974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FC-4748-AE0A-9A8BC9EE2254}"/>
                </c:ext>
              </c:extLst>
            </c:dLbl>
            <c:dLbl>
              <c:idx val="3"/>
              <c:layout>
                <c:manualLayout>
                  <c:x val="-2.0141619772806096E-2"/>
                  <c:y val="-0.10185185185185185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2FC-4748-AE0A-9A8BC9EE2254}"/>
                </c:ext>
              </c:extLst>
            </c:dLbl>
            <c:dLbl>
              <c:idx val="4"/>
              <c:layout>
                <c:manualLayout>
                  <c:x val="-5.5389454375216765E-2"/>
                  <c:y val="-8.3333333333333329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2FC-4748-AE0A-9A8BC9EE2254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Sheet1!$A$2:$A$6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4061</c:v>
                </c:pt>
                <c:pt idx="1">
                  <c:v>3715</c:v>
                </c:pt>
                <c:pt idx="2">
                  <c:v>4430</c:v>
                </c:pt>
                <c:pt idx="3">
                  <c:v>6450</c:v>
                </c:pt>
                <c:pt idx="4">
                  <c:v>6202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03-4360-B660-C19D10B841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03-4360-B660-C19D10B841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2008</c:v>
                </c:pt>
                <c:pt idx="1">
                  <c:v>2009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03-4360-B660-C19D10B841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29259871"/>
        <c:axId val="1229256511"/>
      </c:lineChart>
      <c:catAx>
        <c:axId val="1229259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9256511"/>
        <c:crosses val="autoZero"/>
        <c:auto val="1"/>
        <c:lblAlgn val="ctr"/>
        <c:lblOffset val="100"/>
        <c:noMultiLvlLbl val="0"/>
      </c:catAx>
      <c:valAx>
        <c:axId val="1229256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925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overlay val="0"/>
      <c:spPr>
        <a:noFill/>
        <a:ln>
          <a:solidFill>
            <a:schemeClr val="bg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Shape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B8-492C-8304-D569D5E4C0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B8-492C-8304-D569D5E4C06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FB8-492C-8304-D569D5E4C06E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light</c:v>
                </c:pt>
                <c:pt idx="1">
                  <c:v>triangle</c:v>
                </c:pt>
                <c:pt idx="2">
                  <c:v>circle</c:v>
                </c:pt>
                <c:pt idx="3">
                  <c:v>fireball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14130</c:v>
                </c:pt>
                <c:pt idx="1">
                  <c:v>6817</c:v>
                </c:pt>
                <c:pt idx="2">
                  <c:v>6405</c:v>
                </c:pt>
                <c:pt idx="3">
                  <c:v>5364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B8-492C-8304-D569D5E4C0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07223408"/>
        <c:axId val="1207222928"/>
      </c:barChart>
      <c:catAx>
        <c:axId val="120722340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222928"/>
        <c:auto val="1"/>
        <c:lblAlgn val="ctr"/>
        <c:lblOffset val="100"/>
        <c:noMultiLvlLbl val="0"/>
      </c:catAx>
      <c:valAx>
        <c:axId val="1207222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7223408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Count of UFOs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3660751387808596E-2"/>
          <c:y val="0.13370781643636329"/>
          <c:w val="0.88927564915346335"/>
          <c:h val="0.684044318377553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UFOs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U.S.</c:v>
                </c:pt>
                <c:pt idx="1">
                  <c:v>Canada</c:v>
                </c:pt>
                <c:pt idx="2">
                  <c:v>United Kingdom</c:v>
                </c:pt>
                <c:pt idx="3">
                  <c:v>Australia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63553</c:v>
                </c:pt>
                <c:pt idx="1">
                  <c:v>2942</c:v>
                </c:pt>
                <c:pt idx="2" formatCode="General">
                  <c:v>11</c:v>
                </c:pt>
                <c:pt idx="3" formatCode="General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07-4A10-BEE6-D5E74710B9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3934720"/>
        <c:axId val="1483933760"/>
      </c:barChart>
      <c:catAx>
        <c:axId val="148393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933760"/>
        <c:crosses val="autoZero"/>
        <c:auto val="1"/>
        <c:lblAlgn val="ctr"/>
        <c:lblOffset val="100"/>
        <c:noMultiLvlLbl val="0"/>
      </c:catAx>
      <c:valAx>
        <c:axId val="1483933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934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Count</a:t>
            </a:r>
            <a:r>
              <a:rPr lang="en-US" baseline="0" dirty="0">
                <a:solidFill>
                  <a:schemeClr val="bg1"/>
                </a:solidFill>
              </a:rPr>
              <a:t> of UFOS Per State</a:t>
            </a:r>
            <a:endParaRPr lang="en-US" dirty="0">
              <a:solidFill>
                <a:schemeClr val="bg1"/>
              </a:solidFill>
            </a:endParaRP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298484432322031E-2"/>
          <c:y val="0.1434570331486342"/>
          <c:w val="0.91759530073807338"/>
          <c:h val="0.6901798386312821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fld id="{484B92EE-E4FD-4EFA-AE1E-F7D6D9CB65A5}" type="VALUE">
                      <a:rPr lang="en-US" baseline="0" smtClean="0"/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78F7-4F0C-9106-1ED9EACC444C}"/>
                </c:ext>
              </c:extLst>
            </c:dLbl>
            <c:dLbl>
              <c:idx val="1"/>
              <c:layout>
                <c:manualLayout>
                  <c:x val="-5.8935747340825469E-2"/>
                  <c:y val="3.8586565568192864E-2"/>
                </c:manualLayout>
              </c:layout>
              <c:tx>
                <c:rich>
                  <a:bodyPr/>
                  <a:lstStyle/>
                  <a:p>
                    <a:fld id="{9A81B2F9-F14B-4EDE-9627-594213EFE45D}" type="VALUE">
                      <a:rPr lang="en-US" baseline="0" smtClean="0"/>
                      <a:pPr/>
                      <a:t>[VALUE]</a:t>
                    </a:fld>
                    <a:endParaRPr lang="en-US"/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78F7-4F0C-9106-1ED9EACC444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9746E7A-08FD-4C0E-BA7A-D976E8D82775}" type="VALUE">
                      <a:rPr lang="en-US" baseline="0" smtClean="0"/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8F7-4F0C-9106-1ED9EACC444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29F8B87-7F4F-4A21-879B-88A4C68EF6C5}" type="VALUE">
                      <a:rPr lang="en-US" baseline="0" smtClean="0"/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78F7-4F0C-9106-1ED9EACC444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AD9E01E-E979-4E03-A44A-C12084D4EB87}" type="VALUE">
                      <a:rPr lang="en-US" baseline="0" smtClean="0"/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78F7-4F0C-9106-1ED9EACC444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6DB0A5A6-9B15-41F3-ABD4-C86108DA9AAD}" type="VALUE">
                      <a:rPr lang="en-US" baseline="0" smtClean="0"/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78F7-4F0C-9106-1ED9EACC444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83FB4488-79F9-4055-8FE6-EA2FE812C463}" type="VALUE">
                      <a:rPr lang="en-US" baseline="0" smtClean="0"/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78F7-4F0C-9106-1ED9EACC444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E305D1AD-528F-4119-920E-2FF8D197C6EF}" type="VALUE">
                      <a:rPr lang="en-US" baseline="0" smtClean="0"/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78F7-4F0C-9106-1ED9EACC444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F42C0BF3-255A-4521-9E54-4ADEA4C2891E}" type="VALUE">
                      <a:rPr lang="en-US" baseline="0" smtClean="0"/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78F7-4F0C-9106-1ED9EACC444C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trendline>
            <c:spPr>
              <a:ln w="38100" cap="rnd">
                <a:noFill/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Sheet1!$A$2:$A$10</c:f>
              <c:strCache>
                <c:ptCount val="9"/>
                <c:pt idx="0">
                  <c:v>California</c:v>
                </c:pt>
                <c:pt idx="1">
                  <c:v>Florida</c:v>
                </c:pt>
                <c:pt idx="2">
                  <c:v>Washington</c:v>
                </c:pt>
                <c:pt idx="3">
                  <c:v>Texas</c:v>
                </c:pt>
                <c:pt idx="4">
                  <c:v>New York</c:v>
                </c:pt>
                <c:pt idx="5">
                  <c:v>Illinois</c:v>
                </c:pt>
                <c:pt idx="6">
                  <c:v>Arizona</c:v>
                </c:pt>
                <c:pt idx="7">
                  <c:v>Pennsylvania</c:v>
                </c:pt>
                <c:pt idx="8">
                  <c:v>Ohio</c:v>
                </c:pt>
              </c:strCache>
            </c:strRef>
          </c:cat>
          <c:val>
            <c:numRef>
              <c:f>Sheet1!$B$2:$B$10</c:f>
              <c:numCache>
                <c:formatCode>#,##0</c:formatCode>
                <c:ptCount val="9"/>
                <c:pt idx="0">
                  <c:v>8683</c:v>
                </c:pt>
                <c:pt idx="1">
                  <c:v>3754</c:v>
                </c:pt>
                <c:pt idx="2">
                  <c:v>3709</c:v>
                </c:pt>
                <c:pt idx="3">
                  <c:v>3398</c:v>
                </c:pt>
                <c:pt idx="4">
                  <c:v>2915</c:v>
                </c:pt>
                <c:pt idx="5">
                  <c:v>2447</c:v>
                </c:pt>
                <c:pt idx="6">
                  <c:v>2362</c:v>
                </c:pt>
                <c:pt idx="7">
                  <c:v>2319</c:v>
                </c:pt>
                <c:pt idx="8">
                  <c:v>2252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F7-4F0C-9106-1ED9EACC444C}"/>
            </c:ext>
          </c:extLst>
        </c:ser>
        <c:dLbls>
          <c:dLblPos val="b"/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16373200"/>
        <c:axId val="1416374160"/>
      </c:lineChart>
      <c:catAx>
        <c:axId val="141637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6374160"/>
        <c:crosses val="autoZero"/>
        <c:auto val="1"/>
        <c:lblAlgn val="ctr"/>
        <c:lblOffset val="100"/>
        <c:noMultiLvlLbl val="0"/>
      </c:catAx>
      <c:valAx>
        <c:axId val="141637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6373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Count of Fall Type</a:t>
            </a:r>
          </a:p>
        </c:rich>
      </c:tx>
      <c:layout>
        <c:manualLayout>
          <c:xMode val="edge"/>
          <c:yMode val="edge"/>
          <c:x val="0.67627731299212601"/>
          <c:y val="0.135937491637703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Fall Type</c:v>
                </c:pt>
              </c:strCache>
            </c:strRef>
          </c:tx>
          <c:explosion val="18"/>
          <c:dPt>
            <c:idx val="0"/>
            <c:bubble3D val="0"/>
            <c:explosion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4B-4667-9554-332BDA466947}"/>
              </c:ext>
            </c:extLst>
          </c:dPt>
          <c:dPt>
            <c:idx val="1"/>
            <c:bubble3D val="0"/>
            <c:explosion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F4B-4667-9554-332BDA466947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Fell</c:v>
                </c:pt>
                <c:pt idx="1">
                  <c:v>Found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1107</c:v>
                </c:pt>
                <c:pt idx="1">
                  <c:v>44609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4B-4667-9554-332BDA4669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6167261318897639"/>
          <c:y val="0.52496490373001337"/>
          <c:w val="0.15477977362204726"/>
          <c:h val="4.84726225102963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Meteors</c:v>
                </c:pt>
              </c:strCache>
            </c:strRef>
          </c:tx>
          <c:spPr>
            <a:ln w="476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Sheet1!$A$2:$A$15</c:f>
              <c:numCache>
                <c:formatCode>General</c:formatCode>
                <c:ptCount val="14"/>
                <c:pt idx="0">
                  <c:v>1999</c:v>
                </c:pt>
                <c:pt idx="1">
                  <c:v>2000</c:v>
                </c:pt>
                <c:pt idx="2">
                  <c:v>2001</c:v>
                </c:pt>
                <c:pt idx="3">
                  <c:v>2002</c:v>
                </c:pt>
                <c:pt idx="4">
                  <c:v>2003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2007</c:v>
                </c:pt>
                <c:pt idx="9">
                  <c:v>2008</c:v>
                </c:pt>
                <c:pt idx="10">
                  <c:v>2009</c:v>
                </c:pt>
                <c:pt idx="11">
                  <c:v>2010</c:v>
                </c:pt>
                <c:pt idx="12">
                  <c:v>2012</c:v>
                </c:pt>
                <c:pt idx="13">
                  <c:v>2013</c:v>
                </c:pt>
              </c:numCache>
            </c:numRef>
          </c:cat>
          <c:val>
            <c:numRef>
              <c:f>Sheet1!$B$2:$B$15</c:f>
              <c:numCache>
                <c:formatCode>#,##0</c:formatCode>
                <c:ptCount val="14"/>
                <c:pt idx="0">
                  <c:v>1691</c:v>
                </c:pt>
                <c:pt idx="1">
                  <c:v>1792</c:v>
                </c:pt>
                <c:pt idx="2">
                  <c:v>1650</c:v>
                </c:pt>
                <c:pt idx="3">
                  <c:v>2078</c:v>
                </c:pt>
                <c:pt idx="4">
                  <c:v>3323</c:v>
                </c:pt>
                <c:pt idx="5">
                  <c:v>1940</c:v>
                </c:pt>
                <c:pt idx="6" formatCode="General">
                  <c:v>875</c:v>
                </c:pt>
                <c:pt idx="7">
                  <c:v>2456</c:v>
                </c:pt>
                <c:pt idx="8">
                  <c:v>1189</c:v>
                </c:pt>
                <c:pt idx="9" formatCode="General">
                  <c:v>957</c:v>
                </c:pt>
                <c:pt idx="10">
                  <c:v>1497</c:v>
                </c:pt>
                <c:pt idx="11">
                  <c:v>1005</c:v>
                </c:pt>
                <c:pt idx="12" formatCode="General">
                  <c:v>234</c:v>
                </c:pt>
                <c:pt idx="13" formatCode="General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CD-4760-A064-2DCE730F5CF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02476319"/>
        <c:axId val="1102477279"/>
      </c:lineChart>
      <c:catAx>
        <c:axId val="1102476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2477279"/>
        <c:crosses val="autoZero"/>
        <c:auto val="1"/>
        <c:lblAlgn val="ctr"/>
        <c:lblOffset val="100"/>
        <c:noMultiLvlLbl val="0"/>
      </c:catAx>
      <c:valAx>
        <c:axId val="1102477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24763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chemeClr val="bg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10/17/2024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10/17/2024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F2984-9A6C-BAC8-27EF-E70C89749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6475F-BE8B-0DEA-A5A2-88ABA1CCF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2381B-9C54-A179-D468-ED0A7F4CF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FD3BC-0FDF-E4C2-E2F9-0C9266271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301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E1461-768E-289A-44B6-7187E614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9DF9A-B3D0-42AD-5095-9CDC714FB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DC68F-79AD-9B9F-8EC2-C6FA0A897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4B541-BE70-6E82-1B96-F077FC059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193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173C-5425-8949-B0FE-391D27EA2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F4864-D2FE-0BFF-2253-64CE663A8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F876B-D252-9D0B-E9EF-731E28F56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3111C-5214-266D-0A99-260B6E8C2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756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593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380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005D9-15D2-100D-BC5B-9A34B66A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9CB40-AB8E-04CC-94F3-4BB05916F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0E360-7F0C-4670-E963-755F64215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78E14-35AF-8D61-6D81-881B5DD5B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059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BDE5-B81C-7CE2-41F8-06514E709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3B9D3-48D7-68F8-0DF3-CCAB5FA81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228C3-349E-C6F3-FF4A-12E35693E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F5C0A-BAFD-5FE3-B78A-E6840CEA4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180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F3BD-0E43-0850-347B-4F7AE8B93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6F7DC-06D6-D325-E3E8-1558E783E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97733-3C16-B9A7-785C-3234DE4F9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28158-F864-689B-2B7D-B8A90DFD0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065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7F395-DD42-81ED-AD23-ADD68093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16281-832D-77EA-E068-52D86DE7E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6CACA-7ADC-EC01-19CD-F52FF71F1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DBDC9-7C8A-3284-0681-AF770480D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595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68CB7-4328-5884-B8DC-AE5A9964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EAFC5-FDA8-5A63-F82D-284C49BA4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F5D5C-EE6C-38A1-E432-61DD74492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10C-24AA-FE80-90DE-014C2DC0A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383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9C1D-DFD6-5E3B-4D3E-A228669C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0CD6C-DA72-8766-DCC9-57835A4BD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1C635-78D2-CFDD-1352-07FA62BED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833D6-2A45-C06F-67B4-487B3BA4F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64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C8E99-60E9-D3BB-DD04-AC0FC5A4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95670-D6A9-B4C5-A705-21BA406CC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7610E-A3B4-C3DB-A542-4BEBD59AB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908C3-B146-F472-C298-8964FAE48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804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9087-3E0F-8EC4-45B5-1F3222C7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1CBC7-4410-9C48-2505-D0F8CDC1B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CCE2-7275-C928-EC2B-0386EAA79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E89AD-4843-0591-037E-AA44C0075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5100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830B7-55D8-1F6F-3BE0-AAFF46C3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D5B0F-45AF-02A1-0747-0D09EAE8C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9B7F2-EFCC-A58A-AB43-2EB8060F7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2CDEC-5B32-C191-093C-0455A321D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677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C30AD-0F61-6641-A04D-C76913EE4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7A8AA-F629-1693-B883-B70553CD3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6AFD2-5862-4B08-7A80-7965155C0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EB54B-48D7-BA36-11D6-EBEBD8681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471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09C7E-AB86-F4B1-E77C-29F8DF461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6505A-200F-6726-69C4-DB6239C9B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CE215-FC93-BD06-A925-B4C10EC02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90F89-ED55-8893-77AE-BB1011798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744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B6BC6-99E0-62A6-8167-342770BB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8443C-CF8D-0B9D-B071-0B4843D50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C3324-6508-FDBB-474D-139CB72F5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77F75-38BC-DEE8-3DC3-AE4281DCC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351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292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dirty="0"/>
              <a:t>UFO and Meteors Capstone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57E36-66EB-1546-B69F-5348FA1D2C52}"/>
              </a:ext>
            </a:extLst>
          </p:cNvPr>
          <p:cNvSpPr txBox="1"/>
          <p:nvPr/>
        </p:nvSpPr>
        <p:spPr>
          <a:xfrm>
            <a:off x="6979298" y="4198776"/>
            <a:ext cx="2845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By:</a:t>
            </a:r>
            <a:r>
              <a:rPr lang="en-US" dirty="0"/>
              <a:t> </a:t>
            </a:r>
            <a:r>
              <a:rPr lang="en-US" b="1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Wiley Martin 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2BB53-CB80-C544-CEEE-B0B5DE5C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30F1977-D621-A5BD-A6B6-990E48875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Technologies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C30FC-8BE3-38C4-06D2-86120503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Microsoft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Python (Geospatial)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21941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C1410-22A8-EEE3-1A09-D52577A91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62B4F1E-F7DB-09BD-2920-8B29D09E4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3D4DE-1A78-7FC3-CAEF-5164330D3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Known Issues /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96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39237D-94BF-1AC6-DB71-373A6030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6918D-CE1E-005C-B158-D4E16053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07FCF-5CC1-9E40-3462-EC5F84698F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7" y="3161752"/>
            <a:ext cx="6845297" cy="3211056"/>
          </a:xfrm>
        </p:spPr>
        <p:txBody>
          <a:bodyPr/>
          <a:lstStyle/>
          <a:p>
            <a:r>
              <a:rPr lang="en-US" dirty="0"/>
              <a:t>		Is there a correlation between the location of meteorite fallings and the count of UFO sightings in certain areas of the country? 	</a:t>
            </a:r>
          </a:p>
          <a:p>
            <a:endParaRPr lang="en-US" dirty="0"/>
          </a:p>
        </p:txBody>
      </p:sp>
      <p:pic>
        <p:nvPicPr>
          <p:cNvPr id="5" name="Picture 4" descr="Two vintage UFOs throwing beam of light">
            <a:extLst>
              <a:ext uri="{FF2B5EF4-FFF2-40B4-BE49-F238E27FC236}">
                <a16:creationId xmlns:a16="http://schemas.microsoft.com/office/drawing/2014/main" id="{97C095CA-0148-DDF5-2132-C736ADDE7B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04" r="12504"/>
          <a:stretch/>
        </p:blipFill>
        <p:spPr>
          <a:xfrm>
            <a:off x="1280160" y="2530057"/>
            <a:ext cx="3707972" cy="3707971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426198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Potential/Known Issues</a:t>
            </a:r>
          </a:p>
        </p:txBody>
      </p:sp>
      <p:pic>
        <p:nvPicPr>
          <p:cNvPr id="13" name="Picture Placeholder 12" descr="Question mark on green pastel background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/>
          <a:stretch/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DED16-E2AB-474D-A9E8-6513F296B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Issues of credibility behind sightings of the UFOs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Inaccuracy of UFO location sightings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Missing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Invalid time date formats in datasets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5991-CB9A-BE1A-EA79-EAFC127C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UFOs Over the Years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7DDFC2-02D7-66CE-A229-A3880A91A6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9229789"/>
              </p:ext>
            </p:extLst>
          </p:nvPr>
        </p:nvGraphicFramePr>
        <p:xfrm>
          <a:off x="1280160" y="2103120"/>
          <a:ext cx="10088563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9215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B9F2-FA2A-0384-58C3-EBE6B1F9F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Different Types of UFOs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7E61277-36AF-708A-7573-472DE9B112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6827694"/>
              </p:ext>
            </p:extLst>
          </p:nvPr>
        </p:nvGraphicFramePr>
        <p:xfrm>
          <a:off x="1279525" y="2103438"/>
          <a:ext cx="10912475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98604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933D4-5B86-D6AE-A1E7-FDC72DA4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B716-B971-C9F8-D49D-8DD2245F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UFO Count Per Country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0C79EB91-0F21-C6A4-0E3F-292C18AC1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5993530"/>
              </p:ext>
            </p:extLst>
          </p:nvPr>
        </p:nvGraphicFramePr>
        <p:xfrm>
          <a:off x="1279525" y="2103438"/>
          <a:ext cx="10912475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9E48785-A8C1-640D-FE2B-4D40139A97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3525446"/>
              </p:ext>
            </p:extLst>
          </p:nvPr>
        </p:nvGraphicFramePr>
        <p:xfrm>
          <a:off x="2341880" y="2103438"/>
          <a:ext cx="7508240" cy="4034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512920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D0C78-2D3F-7D14-C77A-ACA5610B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F1C77-706F-B5DC-8C6F-68E06D9F8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UFOs Per State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2BAE586-B5A0-6B76-59A2-6F9489C649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53164"/>
              </p:ext>
            </p:extLst>
          </p:nvPr>
        </p:nvGraphicFramePr>
        <p:xfrm>
          <a:off x="1279525" y="2103438"/>
          <a:ext cx="10088563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93746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56845-0844-11C2-FA3D-656516B3E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8B9D-A8D5-612A-8C0E-8016E795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474" y="552995"/>
            <a:ext cx="10087699" cy="128016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UFOS in California</a:t>
            </a:r>
          </a:p>
        </p:txBody>
      </p:sp>
      <p:pic>
        <p:nvPicPr>
          <p:cNvPr id="3" name="Picture 2" descr="A map of a large area with orange dots&#10;&#10;Description automatically generated">
            <a:extLst>
              <a:ext uri="{FF2B5EF4-FFF2-40B4-BE49-F238E27FC236}">
                <a16:creationId xmlns:a16="http://schemas.microsoft.com/office/drawing/2014/main" id="{D439E998-740B-4FF7-6339-C2687AB65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084" y="1833155"/>
            <a:ext cx="5221224" cy="4842684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829480-4BE6-E805-D0B9-AE610411BA96}"/>
              </a:ext>
            </a:extLst>
          </p:cNvPr>
          <p:cNvSpPr txBox="1"/>
          <p:nvPr/>
        </p:nvSpPr>
        <p:spPr>
          <a:xfrm>
            <a:off x="2053046" y="2383972"/>
            <a:ext cx="3652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Sacramento, California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San Francisco, California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Los Angeles, California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Long Beach, California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San Diego, California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684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DE7EE-A2F0-C84D-E5A4-A36E2C98B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3B6F-62C7-FADF-C87B-3B1FB2E4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Airports ?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9DFF9EF-454F-6269-D1A6-68BBD7D44F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598093" y="2327275"/>
            <a:ext cx="4209502" cy="404018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B06250-A3DF-5744-769E-4F94302A2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3963" y="2327441"/>
            <a:ext cx="3505197" cy="40405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5579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64B81-30B5-BDC0-EDB9-F66A348F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0460-D22A-A130-1A49-6F6C52F5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Airports 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A4F88-0EFE-5533-2ADC-29ACD2BD58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88" r="2" b="6653"/>
          <a:stretch/>
        </p:blipFill>
        <p:spPr>
          <a:xfrm>
            <a:off x="1280160" y="2327440"/>
            <a:ext cx="4846320" cy="404057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E9EC18-0287-BDAD-5B68-F203376BE4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00" r="2" b="10341"/>
          <a:stretch/>
        </p:blipFill>
        <p:spPr>
          <a:xfrm>
            <a:off x="6723402" y="2327441"/>
            <a:ext cx="4846320" cy="40405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8795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35C3E-B19B-332E-C0DC-B3C21A0B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7B6E8-1F80-79C5-EDFA-7319B00BF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Meteor Information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FE3DAFA-F400-90A9-BBFA-B1ECF50E3E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230977"/>
              </p:ext>
            </p:extLst>
          </p:nvPr>
        </p:nvGraphicFramePr>
        <p:xfrm>
          <a:off x="1280160" y="2103120"/>
          <a:ext cx="10088563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7B2D14B-8DE2-C323-423A-A4678809B0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3566973"/>
              </p:ext>
            </p:extLst>
          </p:nvPr>
        </p:nvGraphicFramePr>
        <p:xfrm>
          <a:off x="2260009" y="15324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79475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ECC5B-E764-4770-6818-9E8222D4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880D-14DD-4010-F263-E80612FAB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Meteors Over the years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3407D900-EA8E-6531-3341-0EA76124B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4154863"/>
              </p:ext>
            </p:extLst>
          </p:nvPr>
        </p:nvGraphicFramePr>
        <p:xfrm>
          <a:off x="1279525" y="2103438"/>
          <a:ext cx="10088563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78755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5C81A-D2FC-0951-5FA6-C5ED0AE6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2567-D56F-80DC-B6D8-853BCD17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150" y="84909"/>
            <a:ext cx="10087699" cy="128016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UFOs in Relation to Meteor locations in U.S. </a:t>
            </a:r>
          </a:p>
        </p:txBody>
      </p:sp>
      <p:pic>
        <p:nvPicPr>
          <p:cNvPr id="7" name="Picture 6" descr="A map of the united states&#10;&#10;Description automatically generated">
            <a:extLst>
              <a:ext uri="{FF2B5EF4-FFF2-40B4-BE49-F238E27FC236}">
                <a16:creationId xmlns:a16="http://schemas.microsoft.com/office/drawing/2014/main" id="{E7B3F0EA-5358-B6DC-820F-47C96D292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9" y="1549400"/>
            <a:ext cx="8735787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10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96190-C0F4-B717-04E0-E2BF5DD9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9E647-8B80-992F-3827-AF37A7E5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Influence of the </a:t>
            </a:r>
            <a:r>
              <a:rPr lang="en-US" dirty="0" err="1">
                <a:solidFill>
                  <a:schemeClr val="bg1"/>
                </a:solidFill>
              </a:rPr>
              <a:t>Iphone</a:t>
            </a:r>
            <a:r>
              <a:rPr lang="en-US" dirty="0">
                <a:solidFill>
                  <a:schemeClr val="bg1"/>
                </a:solidFill>
              </a:rPr>
              <a:t> ? </a:t>
            </a:r>
          </a:p>
        </p:txBody>
      </p:sp>
      <p:pic>
        <p:nvPicPr>
          <p:cNvPr id="9" name="Picture 8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81041F07-01A5-42CE-CEDF-89C012914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348" y="2103119"/>
            <a:ext cx="7727322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91734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DED0F2-81EB-8CC7-8E20-F50F03DB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465F4-BE74-090A-2201-13AD35C2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Influence of Meteor Showers on UFO Sightings ? </a:t>
            </a:r>
          </a:p>
        </p:txBody>
      </p:sp>
      <p:pic>
        <p:nvPicPr>
          <p:cNvPr id="4" name="Picture 3" descr="A graph of a shower&#10;&#10;Description automatically generated with medium confidence">
            <a:extLst>
              <a:ext uri="{FF2B5EF4-FFF2-40B4-BE49-F238E27FC236}">
                <a16:creationId xmlns:a16="http://schemas.microsoft.com/office/drawing/2014/main" id="{4CCE1B9E-592D-A9BF-5E3F-EDD418D72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623" y="2103120"/>
            <a:ext cx="4685577" cy="4114800"/>
          </a:xfrm>
          <a:prstGeom prst="rect">
            <a:avLst/>
          </a:prstGeom>
          <a:noFill/>
        </p:spPr>
      </p:pic>
      <p:pic>
        <p:nvPicPr>
          <p:cNvPr id="6" name="Picture 5" descr="A diagram of a shower&#10;&#10;Description automatically generated">
            <a:extLst>
              <a:ext uri="{FF2B5EF4-FFF2-40B4-BE49-F238E27FC236}">
                <a16:creationId xmlns:a16="http://schemas.microsoft.com/office/drawing/2014/main" id="{957C5C54-93B2-5C29-A37B-4914E71EB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258" y="2103120"/>
            <a:ext cx="36576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08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C2A3F-C184-EC39-308D-E53CFFA1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D347-BC78-EDEE-EFFD-27BD2E197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Meteor Showers Over the years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FEA9AC-A3CD-DE18-C7B2-89A1A053B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6527" y="2103119"/>
            <a:ext cx="5754965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8159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626B6-74E5-23D0-D557-8675EE21A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7C47-56DA-18AC-8750-449DC20B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Meteor Showers Over the years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06225-7ECF-12BE-492E-C3CC179BD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635" y="2103119"/>
            <a:ext cx="7250748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9177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DFA2-5F7B-DE3E-D518-CF4E3D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1"/>
            <a:ext cx="10087699" cy="128016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40823-3668-10B8-2A1D-8D7304F8B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Not Enough positive correlations to be drawn between the two variables </a:t>
            </a:r>
          </a:p>
          <a:p>
            <a:r>
              <a:rPr lang="en-US" dirty="0">
                <a:solidFill>
                  <a:schemeClr val="bg1"/>
                </a:solidFill>
              </a:rPr>
              <a:t>The graphs presented display this negative correlation </a:t>
            </a:r>
          </a:p>
          <a:p>
            <a:r>
              <a:rPr lang="en-US" dirty="0">
                <a:solidFill>
                  <a:schemeClr val="bg1"/>
                </a:solidFill>
              </a:rPr>
              <a:t>The percentage of UFO sightings during meteor showers is roughly 50/50 to UFO sightings not during meteor showers</a:t>
            </a:r>
          </a:p>
          <a:p>
            <a:r>
              <a:rPr lang="en-US" dirty="0">
                <a:solidFill>
                  <a:schemeClr val="bg1"/>
                </a:solidFill>
              </a:rPr>
              <a:t>Years in which there were large spikes of meteor showers/meteors being found occasionally had no UFO sightings </a:t>
            </a:r>
          </a:p>
          <a:p>
            <a:r>
              <a:rPr lang="en-US" dirty="0">
                <a:solidFill>
                  <a:schemeClr val="bg1"/>
                </a:solidFill>
              </a:rPr>
              <a:t>UFO sightings spiked post 2009 which was the invention of the iPhone, could this indicate false sightings/clickbait given there were not many sightings before this ? </a:t>
            </a:r>
          </a:p>
          <a:p>
            <a:r>
              <a:rPr lang="en-US" dirty="0">
                <a:solidFill>
                  <a:schemeClr val="bg1"/>
                </a:solidFill>
              </a:rPr>
              <a:t>The cities in California with large bubble sizes of UFO sightings were largely near airports, false sightings again ?  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03662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{A0D1FDCA-9DD7-4CDC-B5A7-1A3AAE4396CE}tf89338750_win32</Template>
  <TotalTime>11892</TotalTime>
  <Words>332</Words>
  <Application>Microsoft Office PowerPoint</Application>
  <PresentationFormat>Widescreen</PresentationFormat>
  <Paragraphs>89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Univers</vt:lpstr>
      <vt:lpstr>GradientVTI</vt:lpstr>
      <vt:lpstr>UFO and Meteors Capstone</vt:lpstr>
      <vt:lpstr>Technologies Used</vt:lpstr>
      <vt:lpstr>Agenda </vt:lpstr>
      <vt:lpstr>Data Question</vt:lpstr>
      <vt:lpstr>Potential/Known Issues</vt:lpstr>
      <vt:lpstr>UFOs Over the Years</vt:lpstr>
      <vt:lpstr>Different Types of UFOs</vt:lpstr>
      <vt:lpstr>UFO Count Per Country</vt:lpstr>
      <vt:lpstr>UFOs Per State</vt:lpstr>
      <vt:lpstr>UFOS in California</vt:lpstr>
      <vt:lpstr>Airports ? </vt:lpstr>
      <vt:lpstr>Airports ? </vt:lpstr>
      <vt:lpstr>Meteor Information</vt:lpstr>
      <vt:lpstr>Meteors Over the years</vt:lpstr>
      <vt:lpstr>UFOs in Relation to Meteor locations in U.S. </vt:lpstr>
      <vt:lpstr>Influence of the Iphone ? </vt:lpstr>
      <vt:lpstr>Influence of Meteor Showers on UFO Sightings ? </vt:lpstr>
      <vt:lpstr>Meteor Showers Over the years</vt:lpstr>
      <vt:lpstr>Meteor Showers Over the years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wiley martin</dc:creator>
  <cp:lastModifiedBy>wiley martin</cp:lastModifiedBy>
  <cp:revision>25</cp:revision>
  <dcterms:created xsi:type="dcterms:W3CDTF">2024-10-12T14:12:46Z</dcterms:created>
  <dcterms:modified xsi:type="dcterms:W3CDTF">2024-10-23T00:28:32Z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